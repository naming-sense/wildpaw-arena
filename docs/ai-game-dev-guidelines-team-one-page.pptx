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      <Relationship Id="rId1" Type="http://schemas.openxmlformats.org/officeDocument/2006/relationships/officeDocument" Target="ppt/presentation.xml"/>
      <Relationship Id="rId2" Type="http://schemas.openxmlformats.org/package/2006/relationships/metadata/core-properties" Target="docProps/core.xml"/>
      <Relationship Id="rId3" Type="http://schemas.openxmlformats.org/officeDocument/2006/relationships/extended-properties" Target="docProps/app.xml"/>
    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 type="screen16x9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  </Relationships>

</file>

<file path=ppt/slideLayouts/_rels/slideLayout1.xml.rels><?xml version="1.0" encoding="UTF-8" standalone="yes"?>
<Relationships xmlns="http://schemas.openxmlformats.org/package/2006/relationships">
      <Relationship Id="rId1" Type="http://schemas.openxmlformats.org/officeDocument/2006/relationships/slideMaster" Target="../slideMasters/slideMaster1.xml"/>
    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  <Relationship Id="rId2" Type="http://schemas.openxmlformats.org/officeDocument/2006/relationships/theme" Target="../theme/theme1.xml"/>
    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 Slide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_rels/slide2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_rels/slide3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_rels/slide4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_rels/slide5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_rels/slide6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800000"/>
            <a:ext cx="108000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2600" b="1"/>
              <a:t>AI를 활용한 서버/클라이언트 개발 가이드라인</a:t>
            </a:r>
            <a:endParaRPr lang="ko-KR" sz="2600" b="1"/>
          </a:p>
        </p:txBody>
      </p:sp>
      <p:sp>
        <p:nvSpPr>
          <p:cNvPr id="3" name="Subtitle"/>
          <p:cNvSpPr txBox="1"/>
          <p:nvPr/>
        </p:nvSpPr>
        <p:spPr>
          <a:xfrm>
            <a:off x="1500000" y="2000000"/>
            <a:ext cx="9000000" cy="1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800" b="1"/>
              <a:t>팀 공유용 1페이지 요약</a:t>
            </a:r>
            <a:endParaRPr lang="ko-KR" sz="1800" b="1"/>
          </a:p>
          <a:p>
            <a:pPr algn="ctr"/>
            <a:r>
              <a:rPr lang="ko-KR" sz="1600"/>
              <a:t>A는 검증용, B는 편입용</a:t>
            </a:r>
            <a:endParaRPr lang="ko-KR" sz="1600"/>
          </a:p>
          <a:p>
            <a:pPr algn="ctr"/>
            <a:r>
              <a:rPr lang="ko-KR" sz="1600"/>
              <a:t>차이는 문제를 무엇을 기준으로 수정하느냐에 있다</a:t>
            </a:r>
            <a:endParaRPr lang="ko-KR"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40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400" b="1"/>
              <a:t>핵심 요약</a:t>
            </a:r>
            <a:endParaRPr lang="ko-KR" sz="2400" b="1"/>
          </a:p>
        </p:txBody>
      </p:sp>
      <p:sp>
        <p:nvSpPr>
          <p:cNvPr id="3" name="Body"/>
          <p:cNvSpPr txBox="1"/>
          <p:nvPr/>
        </p:nvSpPr>
        <p:spPr>
          <a:xfrm>
            <a:off x="900000" y="1400000"/>
            <a:ext cx="10400000" cy="4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• A: 빠르게 검증하는 방식</a:t>
            </a:r>
            <a:endParaRPr lang="ko-KR" sz="1800" b="1"/>
          </a:p>
          <a:p>
            <a:pPr algn="l"/>
            <a:r>
              <a:rPr lang="ko-KR" sz="1800" b="1"/>
              <a:t>• B: 메인 프로젝트에 편입하는 방식</a:t>
            </a:r>
            <a:endParaRPr lang="ko-KR" sz="1800" b="1"/>
          </a:p>
          <a:p>
            <a:pPr algn="l"/>
            <a:r>
              <a:rPr lang="ko-KR" sz="1800"/>
              <a:t>• 둘 다 비슷한 기본 작업 흐름을 따른다</a:t>
            </a:r>
            <a:endParaRPr lang="ko-KR" sz="1800"/>
          </a:p>
          <a:p>
            <a:pPr algn="l"/>
            <a:r>
              <a:rPr lang="ko-KR" sz="1800"/>
              <a:t>• 차이는 문제가 생겼을 때 무엇을 기준으로 수정하느냐다</a:t>
            </a:r>
            <a:endParaRPr lang="ko-KR" sz="1800"/>
          </a:p>
          <a:p>
            <a:pPr algn="l"/>
            <a:r>
              <a:rPr lang="ko-KR" sz="1800"/>
              <a:t>• A는 문서와 하네스 기준, B는 코드와 구조 기준으로 수정한다</a:t>
            </a:r>
            <a:endParaRPr lang="ko-KR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40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400" b="1"/>
              <a:t>A와 B를 나누는 기준</a:t>
            </a:r>
            <a:endParaRPr lang="ko-KR" sz="2400" b="1"/>
          </a:p>
        </p:txBody>
      </p:sp>
      <p:sp>
        <p:nvSpPr>
          <p:cNvPr id="3" name="AHeader"/>
          <p:cNvSpPr txBox="1"/>
          <p:nvPr/>
        </p:nvSpPr>
        <p:spPr>
          <a:xfrm>
            <a:off x="900000" y="1400000"/>
            <a:ext cx="4600000" cy="500000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A를 선택하는 경우</a:t>
            </a:r>
            <a:endParaRPr lang="ko-KR" sz="1800" b="1"/>
          </a:p>
        </p:txBody>
      </p:sp>
      <p:sp>
        <p:nvSpPr>
          <p:cNvPr id="4" name="ABody"/>
          <p:cNvSpPr txBox="1"/>
          <p:nvPr/>
        </p:nvSpPr>
        <p:spPr>
          <a:xfrm>
            <a:off x="900000" y="2000000"/>
            <a:ext cx="4600000" cy="33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600"/>
              <a:t>• 빠른 검증이 목적일 때</a:t>
            </a:r>
            <a:endParaRPr lang="ko-KR" sz="1600"/>
          </a:p>
          <a:p>
            <a:pPr algn="l"/>
            <a:r>
              <a:rPr lang="ko-KR" sz="1600"/>
              <a:t>• 감각, 흐름, 기술 가능성을 먼저 볼 때</a:t>
            </a:r>
            <a:endParaRPr lang="ko-KR" sz="1600"/>
          </a:p>
          <a:p>
            <a:pPr algn="l"/>
            <a:r>
              <a:rPr lang="ko-KR" sz="1600"/>
              <a:t>• 코드가 나중에 버려져도 괜찮을 때</a:t>
            </a:r>
            <a:endParaRPr lang="ko-KR" sz="1600"/>
          </a:p>
          <a:p>
            <a:pPr algn="l"/>
            <a:r>
              <a:rPr lang="ko-KR" sz="1600"/>
              <a:t>• 시나리오와 하네스를 고쳐 다시 볼 생각일 때</a:t>
            </a:r>
            <a:endParaRPr lang="ko-KR" sz="1600"/>
          </a:p>
        </p:txBody>
      </p:sp>
      <p:sp>
        <p:nvSpPr>
          <p:cNvPr id="5" name="BHeader"/>
          <p:cNvSpPr txBox="1"/>
          <p:nvPr/>
        </p:nvSpPr>
        <p:spPr>
          <a:xfrm>
            <a:off x="6100000" y="1400000"/>
            <a:ext cx="4600000" cy="500000"/>
          </a:xfrm>
          <a:prstGeom prst="rect">
            <a:avLst/>
          </a:prstGeom>
          <a:solidFill>
            <a:srgbClr val="EEF7EA"/>
          </a:solidFill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B를 선택하는 경우</a:t>
            </a:r>
            <a:endParaRPr lang="ko-KR" sz="1800" b="1"/>
          </a:p>
        </p:txBody>
      </p:sp>
      <p:sp>
        <p:nvSpPr>
          <p:cNvPr id="6" name="BBody"/>
          <p:cNvSpPr txBox="1"/>
          <p:nvPr/>
        </p:nvSpPr>
        <p:spPr>
          <a:xfrm>
            <a:off x="6100000" y="2000000"/>
            <a:ext cx="4600000" cy="33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600"/>
              <a:t>• 메인 프로젝트에 넣어야 할 때</a:t>
            </a:r>
            <a:endParaRPr lang="ko-KR" sz="1600"/>
          </a:p>
          <a:p>
            <a:pPr algn="l"/>
            <a:r>
              <a:rPr lang="ko-KR" sz="1600"/>
              <a:t>• 다른 개발자와 협업해야 할 때</a:t>
            </a:r>
            <a:endParaRPr lang="ko-KR" sz="1600"/>
          </a:p>
          <a:p>
            <a:pPr algn="l"/>
            <a:r>
              <a:rPr lang="ko-KR" sz="1600"/>
              <a:t>• 코드 리뷰와 유지보수가 필요할 때</a:t>
            </a:r>
            <a:endParaRPr lang="ko-KR" sz="1600"/>
          </a:p>
          <a:p>
            <a:pPr algn="l"/>
            <a:r>
              <a:rPr lang="ko-KR" sz="1600"/>
              <a:t>• 실제 코드와 구조를 분석해 고쳐야 할 때</a:t>
            </a:r>
            <a:endParaRPr lang="ko-KR"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40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400" b="1"/>
              <a:t>기본 작업 흐름</a:t>
            </a:r>
            <a:endParaRPr lang="ko-KR" sz="2400" b="1"/>
          </a:p>
        </p:txBody>
      </p:sp>
      <p:sp>
        <p:nvSpPr>
          <p:cNvPr id="3" name="Flow"/>
          <p:cNvSpPr txBox="1"/>
          <p:nvPr/>
        </p:nvSpPr>
        <p:spPr>
          <a:xfrm>
            <a:off x="900000" y="1400000"/>
            <a:ext cx="10400000" cy="4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1. 요구사항 / 개발 계획 정리</a:t>
            </a:r>
            <a:endParaRPr lang="ko-KR" sz="1800" b="1"/>
          </a:p>
          <a:p>
            <a:pPr algn="l"/>
            <a:r>
              <a:rPr lang="ko-KR" sz="1800" b="1"/>
              <a:t>2. 작은 단위 구현</a:t>
            </a:r>
            <a:endParaRPr lang="ko-KR" sz="1800" b="1"/>
          </a:p>
          <a:p>
            <a:pPr algn="l"/>
            <a:r>
              <a:rPr lang="ko-KR" sz="1800" b="1"/>
              <a:t>3. AI 리뷰 + 인간 리뷰</a:t>
            </a:r>
            <a:endParaRPr lang="ko-KR" sz="1800" b="1"/>
          </a:p>
          <a:p>
            <a:pPr algn="l"/>
            <a:r>
              <a:rPr lang="ko-KR" sz="1800" b="1"/>
              <a:t>4. 테스트 준비</a:t>
            </a:r>
            <a:endParaRPr lang="ko-KR" sz="1800" b="1"/>
          </a:p>
          <a:p>
            <a:pPr algn="l"/>
            <a:r>
              <a:rPr lang="ko-KR" sz="1800" b="1"/>
              <a:t>5. 실제 테스트</a:t>
            </a:r>
            <a:endParaRPr lang="ko-KR" sz="1800" b="1"/>
          </a:p>
          <a:p>
            <a:pPr algn="l"/>
            <a:r>
              <a:rPr lang="ko-KR" sz="1800" b="1"/>
              <a:t>6. 문제 수정 후 반복</a:t>
            </a:r>
            <a:endParaRPr lang="ko-KR" sz="1800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40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400" b="1"/>
              <a:t>문제 수정 방식의 차이</a:t>
            </a:r>
            <a:endParaRPr lang="ko-KR" sz="2400" b="1"/>
          </a:p>
        </p:txBody>
      </p:sp>
      <p:sp>
        <p:nvSpPr>
          <p:cNvPr id="3" name="AHeader"/>
          <p:cNvSpPr txBox="1"/>
          <p:nvPr/>
        </p:nvSpPr>
        <p:spPr>
          <a:xfrm>
            <a:off x="900000" y="1400000"/>
            <a:ext cx="4600000" cy="500000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A: 문서와 하네스 기준</a:t>
            </a:r>
            <a:endParaRPr lang="ko-KR" sz="1800" b="1"/>
          </a:p>
        </p:txBody>
      </p:sp>
      <p:sp>
        <p:nvSpPr>
          <p:cNvPr id="4" name="ABody"/>
          <p:cNvSpPr txBox="1"/>
          <p:nvPr/>
        </p:nvSpPr>
        <p:spPr>
          <a:xfrm>
            <a:off x="900000" y="2000000"/>
            <a:ext cx="4600000" cy="30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600"/>
              <a:t>• 요구사항이 모호한지 본다</a:t>
            </a:r>
            <a:endParaRPr lang="ko-KR" sz="1600"/>
          </a:p>
          <a:p>
            <a:pPr algn="l"/>
            <a:r>
              <a:rPr lang="ko-KR" sz="1600"/>
              <a:t>• 검증 시나리오가 부족한지 본다</a:t>
            </a:r>
            <a:endParaRPr lang="ko-KR" sz="1600"/>
          </a:p>
          <a:p>
            <a:pPr algn="l"/>
            <a:r>
              <a:rPr lang="ko-KR" sz="1600"/>
              <a:t>• mock / stub / 입력값을 조정한다</a:t>
            </a:r>
            <a:endParaRPr lang="ko-KR" sz="1600"/>
          </a:p>
          <a:p>
            <a:pPr algn="l"/>
            <a:r>
              <a:rPr lang="ko-KR" sz="1600"/>
              <a:t>• 다시 실행해서 결과를 확인한다</a:t>
            </a:r>
            <a:endParaRPr lang="ko-KR" sz="1600"/>
          </a:p>
        </p:txBody>
      </p:sp>
      <p:sp>
        <p:nvSpPr>
          <p:cNvPr id="5" name="BHeader"/>
          <p:cNvSpPr txBox="1"/>
          <p:nvPr/>
        </p:nvSpPr>
        <p:spPr>
          <a:xfrm>
            <a:off x="6100000" y="1400000"/>
            <a:ext cx="4600000" cy="500000"/>
          </a:xfrm>
          <a:prstGeom prst="rect">
            <a:avLst/>
          </a:prstGeom>
          <a:solidFill>
            <a:srgbClr val="EEF7EA"/>
          </a:solidFill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B: 코드와 구조 기준</a:t>
            </a:r>
            <a:endParaRPr lang="ko-KR" sz="1800" b="1"/>
          </a:p>
        </p:txBody>
      </p:sp>
      <p:sp>
        <p:nvSpPr>
          <p:cNvPr id="6" name="BBody"/>
          <p:cNvSpPr txBox="1"/>
          <p:nvPr/>
        </p:nvSpPr>
        <p:spPr>
          <a:xfrm>
            <a:off x="6100000" y="2000000"/>
            <a:ext cx="4600000" cy="30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600"/>
              <a:t>• 어떤 코드 경로에서 문제 나는지 본다</a:t>
            </a:r>
            <a:endParaRPr lang="ko-KR" sz="1600"/>
          </a:p>
          <a:p>
            <a:pPr algn="l"/>
            <a:r>
              <a:rPr lang="ko-KR" sz="1600"/>
              <a:t>• 구조, 책임 분리, 상태 전이를 점검한다</a:t>
            </a:r>
            <a:endParaRPr lang="ko-KR" sz="1600"/>
          </a:p>
          <a:p>
            <a:pPr algn="l"/>
            <a:r>
              <a:rPr lang="ko-KR" sz="1600"/>
              <a:t>• 코드 패치와 테스트 보강을 한다</a:t>
            </a:r>
            <a:endParaRPr lang="ko-KR" sz="1600"/>
          </a:p>
          <a:p>
            <a:pPr algn="l"/>
            <a:r>
              <a:rPr lang="ko-KR" sz="1600"/>
              <a:t>• 리뷰 후 다시 검증한다</a:t>
            </a:r>
            <a:endParaRPr lang="ko-KR"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40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400" b="1"/>
              <a:t>팀 적용 원칙</a:t>
            </a:r>
            <a:endParaRPr lang="ko-KR" sz="2400" b="1"/>
          </a:p>
        </p:txBody>
      </p:sp>
      <p:sp>
        <p:nvSpPr>
          <p:cNvPr id="3" name="Body"/>
          <p:cNvSpPr txBox="1"/>
          <p:nvPr/>
        </p:nvSpPr>
        <p:spPr>
          <a:xfrm>
            <a:off x="900000" y="1400000"/>
            <a:ext cx="10400000" cy="4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/>
              <a:t>• AI에게 큰 범위를 한 번에 맡기지 않는다</a:t>
            </a:r>
            <a:endParaRPr lang="ko-KR" sz="1800"/>
          </a:p>
          <a:p>
            <a:pPr algn="l"/>
            <a:r>
              <a:rPr lang="ko-KR" sz="1800"/>
              <a:t>• 분석 / 계획 / 구현 / 리뷰 / 테스트를 나눠서 쓴다</a:t>
            </a:r>
            <a:endParaRPr lang="ko-KR" sz="1800"/>
          </a:p>
          <a:p>
            <a:pPr algn="l"/>
            <a:r>
              <a:rPr lang="ko-KR" sz="1800"/>
              <a:t>• A와 B를 섞지 않는다</a:t>
            </a:r>
            <a:endParaRPr lang="ko-KR" sz="1800"/>
          </a:p>
          <a:p>
            <a:pPr algn="l"/>
            <a:r>
              <a:rPr lang="ko-KR" sz="1800"/>
              <a:t>• AI를 코드 생성기만이 아니라 분석과 문서화 도구로도 쓴다</a:t>
            </a:r>
            <a:endParaRPr lang="ko-KR" sz="1800"/>
          </a:p>
          <a:p>
            <a:pPr algn="l"/>
            <a:r>
              <a:rPr lang="ko-KR" sz="1800" b="1"/>
              <a:t>• 팀에서 기억할 한 문장: A는 검증용, B는 편입용</a:t>
            </a:r>
            <a:endParaRPr lang="ko-KR" sz="1800"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3F6FB"/>
      </a:lt2>
      <a:accent1>
        <a:srgbClr val="4472C4"/>
      </a:accent1>
      <a:accent2>
        <a:srgbClr val="70AD47"/>
      </a:accent2>
      <a:accent3>
        <a:srgbClr val="ED7D31"/>
      </a:accent3>
      <a:accent4>
        <a:srgbClr val="A5A5A5"/>
      </a:accent4>
      <a:accent5>
        <a:srgbClr val="FFC000"/>
      </a:accent5>
      <a:accent6>
        <a:srgbClr val="5B9BD5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Hang" typeface="맑은 고딕"/>
      </a:majorFont>
      <a:minorFont>
        <a:latin typeface="Aptos"/>
        <a:ea typeface=""/>
        <a:cs typeface=""/>
        <a:font script="Hang" typeface="맑은 고딕"/>
      </a:minorFont>
    </a:fontScheme>
    <a:fmtScheme name="Office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lt1"/>
        </a:solidFill>
        <a:solidFill>
          <a:schemeClr val="lt2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6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7" baseType="lpstr">
      <vt:lpstr>Office Theme</vt:lpstr>
      <vt:lpstr>표지</vt:lpstr>
      <vt:lpstr>핵심 요약</vt:lpstr>
      <vt:lpstr>A와 B를 나누는 기준</vt:lpstr>
      <vt:lpstr>기본 작업 흐름</vt:lpstr>
      <vt:lpstr>문제 수정 방식의 차이</vt:lpstr>
      <vt:lpstr>팀 적용 원칙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AI를 활용한 서버/클라이언트 개발 가이드라인 - 팀 공유용</dc:title>
  <dc:creator>OpenClaw</dc:creator>
  <cp:lastModifiedBy>OpenClaw</cp:lastModifiedBy>
  <dcterms:created xsi:type="dcterms:W3CDTF">2026-03-22T15:24:33Z</dcterms:created>
  <dcterms:modified xsi:type="dcterms:W3CDTF">2026-03-22T15:24:33Z</dcterms:modified>
</cp:coreProperties>
</file>